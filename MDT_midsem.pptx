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11E7D-72A6-40EF-B9EE-C14F6FC17611}" v="1" dt="2026-06-08T17:23:02.6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-1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singh" userId="a337b72ae7d80898" providerId="LiveId" clId="{3AA473BF-DBF0-4A88-8B73-89E08743AD07}"/>
    <pc:docChg chg="modSld">
      <pc:chgData name="vishal singh" userId="a337b72ae7d80898" providerId="LiveId" clId="{3AA473BF-DBF0-4A88-8B73-89E08743AD07}" dt="2026-06-08T17:23:02.650" v="67"/>
      <pc:docMkLst>
        <pc:docMk/>
      </pc:docMkLst>
      <pc:sldChg chg="addSp delSp modSp mod modTransition modAnim">
        <pc:chgData name="vishal singh" userId="a337b72ae7d80898" providerId="LiveId" clId="{3AA473BF-DBF0-4A88-8B73-89E08743AD07}" dt="2026-06-08T17:23:02.650" v="67"/>
        <pc:sldMkLst>
          <pc:docMk/>
          <pc:sldMk cId="0" sldId="256"/>
        </pc:sldMkLst>
        <pc:picChg chg="add del mod">
          <ac:chgData name="vishal singh" userId="a337b72ae7d80898" providerId="LiveId" clId="{3AA473BF-DBF0-4A88-8B73-89E08743AD07}" dt="2026-06-08T17:23:02.650" v="67"/>
          <ac:picMkLst>
            <pc:docMk/>
            <pc:sldMk cId="0" sldId="256"/>
            <ac:picMk id="33" creationId="{710CA078-5021-C512-F0F2-5D3DDC21D706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0" sldId="257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0" sldId="257"/>
            <ac:picMk id="32" creationId="{BA24F446-B991-F90F-45CF-1DA489B017DD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0" sldId="258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0" sldId="258"/>
            <ac:picMk id="22" creationId="{775664E0-DC00-7773-C626-2424E6887049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0" sldId="259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0" sldId="259"/>
            <ac:picMk id="20" creationId="{448085E8-D6C3-C164-5727-89F8D6E5FC65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0" sldId="260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0" sldId="260"/>
            <ac:picMk id="25" creationId="{5FE2266B-DF2F-2399-B079-6BED7D038A31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3824582070" sldId="261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3824582070" sldId="261"/>
            <ac:picMk id="20" creationId="{50A0361D-DA3A-669E-14E1-9228267A9D16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3007615682" sldId="262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3007615682" sldId="262"/>
            <ac:picMk id="26" creationId="{3D93972D-0439-1B83-86C6-DB52D83A86BA}"/>
          </ac:picMkLst>
        </pc:picChg>
      </pc:sldChg>
      <pc:sldChg chg="delSp modTransition modAnim">
        <pc:chgData name="vishal singh" userId="a337b72ae7d80898" providerId="LiveId" clId="{3AA473BF-DBF0-4A88-8B73-89E08743AD07}" dt="2026-06-08T17:23:02.650" v="67"/>
        <pc:sldMkLst>
          <pc:docMk/>
          <pc:sldMk cId="3689550832" sldId="263"/>
        </pc:sldMkLst>
        <pc:picChg chg="del">
          <ac:chgData name="vishal singh" userId="a337b72ae7d80898" providerId="LiveId" clId="{3AA473BF-DBF0-4A88-8B73-89E08743AD07}" dt="2026-06-08T17:23:02.650" v="67"/>
          <ac:picMkLst>
            <pc:docMk/>
            <pc:sldMk cId="3689550832" sldId="263"/>
            <ac:picMk id="21" creationId="{CF0306EC-38AE-0684-77D9-AD71D90C33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EAD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0" y="4749800"/>
            <a:ext cx="2476498" cy="210819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14400" y="3089628"/>
            <a:ext cx="10363200" cy="0"/>
          </a:xfrm>
          <a:custGeom>
            <a:avLst/>
            <a:gdLst/>
            <a:ahLst/>
            <a:cxnLst/>
            <a:rect l="l" t="t" r="r" b="b"/>
            <a:pathLst>
              <a:path w="10363200">
                <a:moveTo>
                  <a:pt x="0" y="0"/>
                </a:moveTo>
                <a:lnTo>
                  <a:pt x="103631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534784"/>
            <a:ext cx="3014162" cy="16588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94747" y="4789713"/>
            <a:ext cx="2497251" cy="20682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126" y="119193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599" y="0"/>
                </a:lnTo>
              </a:path>
            </a:pathLst>
          </a:custGeom>
          <a:ln w="9524">
            <a:solidFill>
              <a:srgbClr val="3DA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36827" y="555008"/>
            <a:ext cx="695322" cy="4476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565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00" y="3590623"/>
            <a:ext cx="23729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Members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022" y="3528798"/>
            <a:ext cx="22853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B5513-3ED6-B94D-CF0C-979C739BFB18}"/>
              </a:ext>
            </a:extLst>
          </p:cNvPr>
          <p:cNvSpPr txBox="1"/>
          <p:nvPr/>
        </p:nvSpPr>
        <p:spPr>
          <a:xfrm>
            <a:off x="2085126" y="848756"/>
            <a:ext cx="80217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PRE-DECODER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DECODER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4FA4D-808A-85BE-881A-B4E3BB2A3C33}"/>
              </a:ext>
            </a:extLst>
          </p:cNvPr>
          <p:cNvSpPr txBox="1"/>
          <p:nvPr/>
        </p:nvSpPr>
        <p:spPr>
          <a:xfrm>
            <a:off x="2819400" y="34890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431AA-F172-4471-6E6E-ED48CA146159}"/>
              </a:ext>
            </a:extLst>
          </p:cNvPr>
          <p:cNvSpPr txBox="1"/>
          <p:nvPr/>
        </p:nvSpPr>
        <p:spPr>
          <a:xfrm>
            <a:off x="5241667" y="3996804"/>
            <a:ext cx="4360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MT25111 Charu Singh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MT25130 Neeti Mishra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MT25157 Vishal Kumar Singh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7F9F8-EB7E-2C31-9BBC-7507B7F2B678}"/>
              </a:ext>
            </a:extLst>
          </p:cNvPr>
          <p:cNvSpPr txBox="1"/>
          <p:nvPr/>
        </p:nvSpPr>
        <p:spPr>
          <a:xfrm>
            <a:off x="5241667" y="5334000"/>
            <a:ext cx="4594528" cy="1166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Course:- Memory Design And Test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Prof.: Dr Anuj Grover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60235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90" dirty="0"/>
              <a:t> </a:t>
            </a:r>
            <a:r>
              <a:rPr dirty="0"/>
              <a:t>Statement</a:t>
            </a:r>
            <a:endParaRPr spc="-1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4A6B4-EF89-4610-DB7E-6D504AC8AC04}"/>
              </a:ext>
            </a:extLst>
          </p:cNvPr>
          <p:cNvSpPr txBox="1"/>
          <p:nvPr/>
        </p:nvSpPr>
        <p:spPr>
          <a:xfrm flipH="1">
            <a:off x="803787" y="1219200"/>
            <a:ext cx="10515600" cy="239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1800" b="1" u="sng" dirty="0"/>
              <a:t>Requirements</a:t>
            </a:r>
            <a:r>
              <a:rPr lang="en-US" sz="1800" b="1" dirty="0"/>
              <a:t> : </a:t>
            </a:r>
          </a:p>
          <a:p>
            <a:pPr rtl="0">
              <a:lnSpc>
                <a:spcPct val="150000"/>
              </a:lnSpc>
            </a:pPr>
            <a:r>
              <a:rPr lang="en-US" sz="1800" dirty="0"/>
              <a:t>To design a pre-decoder with the following</a:t>
            </a:r>
            <a:endParaRPr lang="en-US" b="0" dirty="0">
              <a:effectLst/>
            </a:endParaRP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Input capacitance &lt;10fF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Output loading is for 512 rows,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Hold time to be negative at FF/1.32/-40,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Setup time to be within 500ps at SS/1.08/125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E62AF-B2E0-3041-20E2-DCA190C650FE}"/>
              </a:ext>
            </a:extLst>
          </p:cNvPr>
          <p:cNvSpPr txBox="1"/>
          <p:nvPr/>
        </p:nvSpPr>
        <p:spPr>
          <a:xfrm>
            <a:off x="786581" y="3530530"/>
            <a:ext cx="106680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SCRAMBLING: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memory size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8192 × 32 bits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a total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 address bits (A12–A0)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required. 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higher address bits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(A12–A4)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selection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pre-decoding and post-decoding stages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pre-decoding is implemented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3:8 decoders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divide the address bits into groups for efficient row decoding.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lower address bits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(A3–A0)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 decoding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corresponding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MUX16 configuration.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6023551" cy="557862"/>
          </a:xfrm>
          <a:prstGeom prst="rect">
            <a:avLst/>
          </a:prstGeom>
        </p:spPr>
        <p:txBody>
          <a:bodyPr vert="horz" wrap="square" lIns="0" tIns="64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Possible pre-decoding stages</a:t>
            </a:r>
            <a:endParaRPr spc="-1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1A4D6C-74C9-58E1-DA2D-B1C23942E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81278"/>
              </p:ext>
            </p:extLst>
          </p:nvPr>
        </p:nvGraphicFramePr>
        <p:xfrm>
          <a:off x="838200" y="1371600"/>
          <a:ext cx="105918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314598938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811168619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983747235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1471776897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590879647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Specification / Stages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1x2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br>
                        <a:rPr lang="de-DE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1x2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22422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output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2947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512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448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476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192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4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217CEF-003D-CE71-7DE7-EB1F7041AE91}"/>
              </a:ext>
            </a:extLst>
          </p:cNvPr>
          <p:cNvSpPr txBox="1"/>
          <p:nvPr/>
        </p:nvSpPr>
        <p:spPr>
          <a:xfrm>
            <a:off x="1371600" y="33070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1B23E-7D11-559B-78BE-4EEB93B73551}"/>
              </a:ext>
            </a:extLst>
          </p:cNvPr>
          <p:cNvSpPr txBox="1"/>
          <p:nvPr/>
        </p:nvSpPr>
        <p:spPr>
          <a:xfrm>
            <a:off x="1277824" y="4419600"/>
            <a:ext cx="10214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7BD8B-0778-0962-76EE-22D3E71A3992}"/>
              </a:ext>
            </a:extLst>
          </p:cNvPr>
          <p:cNvSpPr txBox="1"/>
          <p:nvPr/>
        </p:nvSpPr>
        <p:spPr>
          <a:xfrm>
            <a:off x="838200" y="5381059"/>
            <a:ext cx="103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3:3x8 decoder configuration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as it provides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trade-off between area and power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power consumption with acceptable area overhead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60235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3:8 Pre-Decoder Schematic &amp; Sizing</a:t>
            </a:r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C0E92-F12F-2441-9734-DDD35867B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70653"/>
            <a:ext cx="5181600" cy="51823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F180A-F92B-3FE6-6501-27F7EAAA8FBC}"/>
              </a:ext>
            </a:extLst>
          </p:cNvPr>
          <p:cNvSpPr txBox="1"/>
          <p:nvPr/>
        </p:nvSpPr>
        <p:spPr>
          <a:xfrm>
            <a:off x="5943600" y="1143000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Sizing Using Logical Effort</a:t>
            </a:r>
            <a:r>
              <a:rPr lang="en-IN" dirty="0"/>
              <a:t>: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12DEF01-093D-6233-7199-76E4551F0D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12BC294-03A2-AEDE-F71B-60AEE4E83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98B6C-ECCE-2622-1A71-8F7DEDE8E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12332"/>
            <a:ext cx="5257800" cy="22214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2B957D-94E2-7F42-2054-22F4BFA43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258787"/>
              </p:ext>
            </p:extLst>
          </p:nvPr>
        </p:nvGraphicFramePr>
        <p:xfrm>
          <a:off x="6086168" y="3893574"/>
          <a:ext cx="5181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9640232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3433766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784751627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42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0.378u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0.140u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34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0.170u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59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0.639u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0.275u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6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1.169u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1.246u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1.07u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83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5.32u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2.289u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205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C9FD-53AD-8A29-73F0-17B158D6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US" dirty="0"/>
              <a:t>EZ Wave Simulation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0D9387-74CD-320B-5089-637D856ED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7"/>
          <a:stretch>
            <a:fillRect/>
          </a:stretch>
        </p:blipFill>
        <p:spPr>
          <a:xfrm>
            <a:off x="685800" y="1371600"/>
            <a:ext cx="5410200" cy="51866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FF5CDB-0B35-F9DB-B6BC-6AD696D6A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5" b="5912"/>
          <a:stretch>
            <a:fillRect/>
          </a:stretch>
        </p:blipFill>
        <p:spPr>
          <a:xfrm>
            <a:off x="6273571" y="1371600"/>
            <a:ext cx="5413248" cy="51866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458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D408-444B-9DD9-5363-E1146B3D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7848600" cy="492443"/>
          </a:xfrm>
        </p:spPr>
        <p:txBody>
          <a:bodyPr/>
          <a:lstStyle/>
          <a:p>
            <a:r>
              <a:rPr lang="en-US" dirty="0"/>
              <a:t>Column Decoder </a:t>
            </a:r>
            <a:r>
              <a:rPr lang="en-US" spc="-50" dirty="0"/>
              <a:t>Schematic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C1AAEB-DAA8-F337-9ADB-80CD5A5F1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882877"/>
            <a:ext cx="4343401" cy="348615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9C702-DC6E-71B3-1B86-FB38ADAFF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71600"/>
            <a:ext cx="7089156" cy="47243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D3AE4-48FE-22F6-5CF2-D235C2BE86BD}"/>
              </a:ext>
            </a:extLst>
          </p:cNvPr>
          <p:cNvSpPr txBox="1"/>
          <p:nvPr/>
        </p:nvSpPr>
        <p:spPr>
          <a:xfrm>
            <a:off x="8686800" y="5486400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Selection Box</a:t>
            </a:r>
          </a:p>
        </p:txBody>
      </p:sp>
    </p:spTree>
    <p:extLst>
      <p:ext uri="{BB962C8B-B14F-4D97-AF65-F5344CB8AC3E}">
        <p14:creationId xmlns:p14="http://schemas.microsoft.com/office/powerpoint/2010/main" val="300761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8537-5014-079B-E28E-65CA00FA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US" dirty="0"/>
              <a:t>EZ Wave Simulation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5305B-38C9-8FF1-726F-FD79C1BAA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1374" r="2941" b="3346"/>
          <a:stretch>
            <a:fillRect/>
          </a:stretch>
        </p:blipFill>
        <p:spPr>
          <a:xfrm>
            <a:off x="6400800" y="1371599"/>
            <a:ext cx="5181600" cy="51322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13194-1DEC-D0E4-BB8C-D7307DD40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7" t="1912" r="2275"/>
          <a:stretch>
            <a:fillRect/>
          </a:stretch>
        </p:blipFill>
        <p:spPr>
          <a:xfrm>
            <a:off x="705467" y="1371599"/>
            <a:ext cx="5390534" cy="51322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955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8763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  <a:tabLst>
                <a:tab pos="2258060" algn="l"/>
              </a:tabLst>
            </a:pPr>
            <a:r>
              <a:rPr lang="en-IN" dirty="0"/>
              <a:t>Challenges,</a:t>
            </a:r>
            <a:r>
              <a:rPr dirty="0"/>
              <a:t>Future</a:t>
            </a:r>
            <a:r>
              <a:rPr spc="-40" dirty="0"/>
              <a:t> </a:t>
            </a:r>
            <a:r>
              <a:rPr spc="-20" dirty="0"/>
              <a:t>Plan</a:t>
            </a:r>
            <a:r>
              <a:rPr lang="en-IN" spc="-2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40" dirty="0"/>
              <a:t>Work</a:t>
            </a:r>
            <a:r>
              <a:rPr spc="-10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03D64-D4F5-77C5-EAB3-61E61C651786}"/>
              </a:ext>
            </a:extLst>
          </p:cNvPr>
          <p:cNvSpPr txBox="1"/>
          <p:nvPr/>
        </p:nvSpPr>
        <p:spPr>
          <a:xfrm>
            <a:off x="690716" y="11411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A32B3-E624-73B6-C6B3-63F000C467EF}"/>
              </a:ext>
            </a:extLst>
          </p:cNvPr>
          <p:cNvSpPr txBox="1"/>
          <p:nvPr/>
        </p:nvSpPr>
        <p:spPr>
          <a:xfrm>
            <a:off x="630493" y="1360270"/>
            <a:ext cx="10744200" cy="6049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design iterations were performed to achieve optimal transistor sizing for the column decoder based on delay and load requirements.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decoder design was improved by replacing simple inverters with tri-state inverters for better control and efficient decoder operation.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Due to threshold voltage drop in PMOS and NMOS pass transistors, full voltage swing is not achieved; therefore, transmission gates will be implemented in future to ensure full logic level restoration.</a:t>
            </a:r>
          </a:p>
          <a:p>
            <a:pPr>
              <a:lnSpc>
                <a:spcPct val="150000"/>
              </a:lnSpc>
            </a:pP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Hold Time Characterization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Implementation and Parasitic Extraction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PPA (Power, Performance, Area) Analysis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Decoder Transistor Sizing Optimization </a:t>
            </a:r>
          </a:p>
          <a:p>
            <a:pPr>
              <a:lnSpc>
                <a:spcPct val="150000"/>
              </a:lnSpc>
            </a:pP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Distributions: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 work completed so far has been carried out with equal contribution and involvement from </a:t>
            </a:r>
            <a:r>
              <a:rPr lang="en-US" sz="1600"/>
              <a:t>all 3 </a:t>
            </a:r>
            <a:r>
              <a:rPr lang="en-US" sz="1600" dirty="0"/>
              <a:t>team members across all stages of the project.</a:t>
            </a:r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450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PowerPoint Presentation</vt:lpstr>
      <vt:lpstr>Problem Statement</vt:lpstr>
      <vt:lpstr>Possible pre-decoding stages</vt:lpstr>
      <vt:lpstr>3:8 Pre-Decoder Schematic &amp; Sizing</vt:lpstr>
      <vt:lpstr>EZ Wave Simulation Results</vt:lpstr>
      <vt:lpstr>Column Decoder Schematic</vt:lpstr>
      <vt:lpstr>EZ Wave Simulation Results</vt:lpstr>
      <vt:lpstr>Challenges,Future Plan And 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singh</dc:creator>
  <cp:lastModifiedBy>vishal singh</cp:lastModifiedBy>
  <cp:revision>6</cp:revision>
  <dcterms:created xsi:type="dcterms:W3CDTF">2026-03-27T06:08:29Z</dcterms:created>
  <dcterms:modified xsi:type="dcterms:W3CDTF">2026-06-08T17:23:10Z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2026-03-27T00:00:00Z</vt:filetime>
  </property>
</Properties>
</file>